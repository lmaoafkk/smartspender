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BD0AC4-13A1-4DA3-8A20-FF353FF5F48B}">
  <a:tblStyle styleId="{9ABD0AC4-13A1-4DA3-8A20-FF353FF5F4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5.xml"/><Relationship Id="rId22" Type="http://schemas.openxmlformats.org/officeDocument/2006/relationships/font" Target="fonts/Roboto-italic.fntdata"/><Relationship Id="rId10" Type="http://schemas.openxmlformats.org/officeDocument/2006/relationships/slide" Target="slides/slide4.xml"/><Relationship Id="rId21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cc28844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cc28844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cc8474158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cc8474158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7ad21ab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b7ad21ab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acff01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acff01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30003db7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30003db7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38433c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38433c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21fab8eb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221fab8eb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b5ddaf5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5b5ddaf5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7ad21ab3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7ad21ab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7ad21ab3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b7ad21ab3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7db0dea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c7db0dea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7db0deaf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7db0deaf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4f547ed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4f547ed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uild5nines.com/cloud-design-patterns-infographic/" TargetMode="External"/><Relationship Id="rId4" Type="http://schemas.openxmlformats.org/officeDocument/2006/relationships/hyperlink" Target="https://www.youtube.com/watch?v=tndzLznxq40" TargetMode="External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drive.google.com/file/d/1wlbSd25tytD5bOscjePvcKMXSOG7JiIg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mozilla.org/en-US/docs/Web/API/WebSockets_API" TargetMode="External"/><Relationship Id="rId4" Type="http://schemas.openxmlformats.org/officeDocument/2006/relationships/hyperlink" Target="https://web.dev/webtransport/#connecting-to-a-serve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Webhook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digitalocean.com/products/droplets/" TargetMode="External"/><Relationship Id="rId4" Type="http://schemas.openxmlformats.org/officeDocument/2006/relationships/hyperlink" Target="https://www.digitalocean.com/products/app-platform/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firebase.google.com/docs/storage" TargetMode="External"/><Relationship Id="rId6" Type="http://schemas.openxmlformats.org/officeDocument/2006/relationships/hyperlink" Target="https://firebase.google.com/products/firestore" TargetMode="External"/><Relationship Id="rId7" Type="http://schemas.openxmlformats.org/officeDocument/2006/relationships/hyperlink" Target="https://firebase.google.com/docs/hosting" TargetMode="External"/><Relationship Id="rId8" Type="http://schemas.openxmlformats.org/officeDocument/2006/relationships/hyperlink" Target="https://firebase.google.com/docs/auth" TargetMode="Externa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en.wikipedia.org/wiki/Systems_architecture" TargetMode="External"/><Relationship Id="rId10" Type="http://schemas.openxmlformats.org/officeDocument/2006/relationships/hyperlink" Target="https://books.google.tt/books?id=jOMYtrJ6r_0C&amp;vq=master+slave&amp;source=gbs_navlinks_s" TargetMode="External"/><Relationship Id="rId13" Type="http://schemas.openxmlformats.org/officeDocument/2006/relationships/hyperlink" Target="http://www.dre.vanderbilt.edu/~arvindk/public_html/ICS211/Softe_Patterns.htm" TargetMode="External"/><Relationship Id="rId12" Type="http://schemas.openxmlformats.org/officeDocument/2006/relationships/hyperlink" Target="https://www.linkedin.com/pulse/message-que-pub-sub-rabbitmq-apache-kafka-pubnub-krishnakantha/v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owardsdatascience.com/10-common-software-architectural-patterns-in-a-nutshell-a0b47a1e9013" TargetMode="External"/><Relationship Id="rId4" Type="http://schemas.openxmlformats.org/officeDocument/2006/relationships/hyperlink" Target="https://gist.github.com/vasanthk/485d1c25737e8e72759f" TargetMode="External"/><Relationship Id="rId9" Type="http://schemas.openxmlformats.org/officeDocument/2006/relationships/hyperlink" Target="https://www.youtube.com/watch?v=o_TH-Y78tt4&amp;t=1667" TargetMode="External"/><Relationship Id="rId15" Type="http://schemas.openxmlformats.org/officeDocument/2006/relationships/hyperlink" Target="https://www.tutorialspoint.com/software_architecture_design/introduction.htm" TargetMode="External"/><Relationship Id="rId14" Type="http://schemas.openxmlformats.org/officeDocument/2006/relationships/hyperlink" Target="https://dzone.com/articles/comparing-publish-subscribe-messaging-and-message#:~:text=Like%20message%20queuing%2C%20publish%2Dsubscribe,each%20message%20in%20a%20topic.&amp;text=Publish%2Dsubscribe%20messaging%20example." TargetMode="External"/><Relationship Id="rId16" Type="http://schemas.openxmlformats.org/officeDocument/2006/relationships/hyperlink" Target="https://lostechies.com/derekgreer/2007/08/25/interactive-application-architecture/" TargetMode="External"/><Relationship Id="rId5" Type="http://schemas.openxmlformats.org/officeDocument/2006/relationships/hyperlink" Target="https://docs.microsoft.com/en-us/azure/architecture/patterns/cqrs" TargetMode="External"/><Relationship Id="rId6" Type="http://schemas.openxmlformats.org/officeDocument/2006/relationships/hyperlink" Target="https://www.youtube.com/watch?v=lTkL1oIMiaU" TargetMode="External"/><Relationship Id="rId7" Type="http://schemas.openxmlformats.org/officeDocument/2006/relationships/hyperlink" Target="https://stackoverflow.com/questions/3958316/whats-the-difference-between-architectural-patterns-and-architectural-styles#:~:text=An%20architectural%20style%20is%20a%20conceptual%20way%20of%20how%20the,or%20modules%20and%20their%20relationships" TargetMode="External"/><Relationship Id="rId8" Type="http://schemas.openxmlformats.org/officeDocument/2006/relationships/hyperlink" Target="https://www.sciencedirect.com/science/article/pii/S187705091503183X?via%3Dihu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Nicholas Mendez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62825" y="1763725"/>
            <a:ext cx="4302900" cy="33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Process of defining the architecture, modules, interfaces, and data for a system to satisfy specified requirements. 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Applies: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Cloud Design Patterns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Distributed System Architectural Patterns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Concepts: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Database replication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Database </a:t>
            </a:r>
            <a:r>
              <a:rPr lang="en" sz="1100">
                <a:solidFill>
                  <a:srgbClr val="000000"/>
                </a:solidFill>
              </a:rPr>
              <a:t>partitioning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Map Reduce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Microservices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Message Brokers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Queuing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Caching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Event Stream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Load Balancing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Case Study: Tinder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0225" y="1864025"/>
            <a:ext cx="4643901" cy="24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Components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214300" y="695675"/>
            <a:ext cx="87405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File Storage: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Services for hosting, optimizing and distributing media files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Static Hosting: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Github pages, firebase hosting, netlify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Compute: 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Cloud Virtual Machine: Eg Digital Ocean Droplets, Google Compute Engine, AWS EC2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App/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Container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Hosting or Platform as a Service (PaaS): Heroku, KintoHub, Render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VPS/Shared/Managed/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Dedicated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Hosting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External Systems, 3rd Party APIs/Service: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Eg. Google Maps, Facebook API, YouTube API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Databases: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No/SQL: MongoDB, Firebase Firestore/Real Time Database, Harper DB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Relational: PostGres, MySQL, SQL Server, MariaDB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lphaLcPeriod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Graph: TigerDB, Neo4j, DGraph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a System</a:t>
            </a:r>
            <a:endParaRPr/>
          </a:p>
        </p:txBody>
      </p:sp>
      <p:pic>
        <p:nvPicPr>
          <p:cNvPr id="87" name="Google Shape;87;p16" title="Web System design-Tabl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200" y="742125"/>
            <a:ext cx="5115542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Conventions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11567"/>
          <a:stretch/>
        </p:blipFill>
        <p:spPr>
          <a:xfrm>
            <a:off x="653563" y="769428"/>
            <a:ext cx="7544876" cy="41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6187000" y="4359025"/>
            <a:ext cx="15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Draw.io Template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Diagramming </a:t>
            </a:r>
            <a:r>
              <a:rPr lang="en"/>
              <a:t>guidelines 1</a:t>
            </a:r>
            <a:endParaRPr/>
          </a:p>
        </p:txBody>
      </p: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98250" y="818100"/>
            <a:ext cx="5055000" cy="35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Component </a:t>
            </a:r>
            <a:r>
              <a:rPr lang="en" sz="1200">
                <a:solidFill>
                  <a:srgbClr val="000000"/>
                </a:solidFill>
              </a:rPr>
              <a:t>Structure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0000"/>
                </a:solidFill>
              </a:rPr>
              <a:t>Name/Purpose of component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0000"/>
                </a:solidFill>
              </a:rPr>
              <a:t>Type of App eg (react,/svelte/vue/flask/django/express app) (for compute components)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0000"/>
                </a:solidFill>
              </a:rPr>
              <a:t>[ Hosting service ]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Do not include any libraries, sdks, sensors</a:t>
            </a:r>
            <a:r>
              <a:rPr lang="en" sz="1200">
                <a:solidFill>
                  <a:srgbClr val="000000"/>
                </a:solidFill>
              </a:rPr>
              <a:t> that are already part of an existing component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Each component must be </a:t>
            </a:r>
            <a:r>
              <a:rPr b="1" lang="en" sz="1200">
                <a:solidFill>
                  <a:srgbClr val="000000"/>
                </a:solidFill>
              </a:rPr>
              <a:t>a separate device</a:t>
            </a:r>
            <a:r>
              <a:rPr lang="en" sz="1200">
                <a:solidFill>
                  <a:srgbClr val="000000"/>
                </a:solidFill>
              </a:rPr>
              <a:t> on the network with a </a:t>
            </a:r>
            <a:r>
              <a:rPr lang="en" sz="1200">
                <a:solidFill>
                  <a:srgbClr val="000000"/>
                </a:solidFill>
              </a:rPr>
              <a:t>unique</a:t>
            </a:r>
            <a:r>
              <a:rPr lang="en" sz="1200">
                <a:solidFill>
                  <a:srgbClr val="000000"/>
                </a:solidFill>
              </a:rPr>
              <a:t> IP address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Arrows are unidirectional, should indicate which component </a:t>
            </a:r>
            <a:r>
              <a:rPr b="1" lang="en" sz="1200">
                <a:solidFill>
                  <a:srgbClr val="000000"/>
                </a:solidFill>
              </a:rPr>
              <a:t>initiates </a:t>
            </a:r>
            <a:r>
              <a:rPr b="1" lang="en" sz="1200">
                <a:solidFill>
                  <a:srgbClr val="000000"/>
                </a:solidFill>
              </a:rPr>
              <a:t>calls/messages</a:t>
            </a:r>
            <a:r>
              <a:rPr lang="en" sz="1200">
                <a:solidFill>
                  <a:srgbClr val="000000"/>
                </a:solidFill>
              </a:rPr>
              <a:t> to the other component after it has been loaded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Only compute components can be intermediates between other components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575" y="939125"/>
            <a:ext cx="3264425" cy="21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Diagramming </a:t>
            </a:r>
            <a:r>
              <a:rPr lang="en"/>
              <a:t>guidelines 2 Server - Client-Server Connections</a:t>
            </a:r>
            <a:endParaRPr/>
          </a:p>
        </p:txBody>
      </p:sp>
      <p:sp>
        <p:nvSpPr>
          <p:cNvPr id="107" name="Google Shape;107;p19"/>
          <p:cNvSpPr txBox="1"/>
          <p:nvPr>
            <p:ph idx="4294967295" type="body"/>
          </p:nvPr>
        </p:nvSpPr>
        <p:spPr>
          <a:xfrm>
            <a:off x="98250" y="703075"/>
            <a:ext cx="8397900" cy="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Arrows represent network requests to other components, they can be unidirectional  or bidirectional based on the communication </a:t>
            </a:r>
            <a:r>
              <a:rPr b="1" lang="en" sz="1200">
                <a:solidFill>
                  <a:srgbClr val="000000"/>
                </a:solidFill>
              </a:rPr>
              <a:t>protocol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892050" y="1514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{9ABD0AC4-13A1-4DA3-8A20-FF353FF5F48B}</a:tableStyleId>
              </a:tblPr>
              <a:tblGrid>
                <a:gridCol w="4547975"/>
                <a:gridCol w="2691025"/>
              </a:tblGrid>
              <a:tr h="29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Protocol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HTTP Request: AJAX or normal web request. Unidirectional and indicates which component </a:t>
                      </a:r>
                      <a:r>
                        <a:rPr b="1" lang="en" sz="1000"/>
                        <a:t>initiates</a:t>
                      </a:r>
                      <a:r>
                        <a:rPr lang="en" sz="1000"/>
                        <a:t> calls/messages to the other component after it has been loaded. This is the default protocol and is implied if not specified on the arrow.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HTTP Web Push: Push Notifications, server delivers messages to clients using the Push API.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hlinkClick r:id="rId3"/>
                        </a:rPr>
                        <a:t>WebSockets</a:t>
                      </a:r>
                      <a:r>
                        <a:rPr lang="en" sz="1000"/>
                        <a:t>  and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hlinkClick r:id="rId4"/>
                        </a:rPr>
                        <a:t>Web Transport</a:t>
                      </a:r>
                      <a:r>
                        <a:rPr lang="en" sz="1000"/>
                        <a:t> </a:t>
                      </a:r>
                      <a:r>
                        <a:rPr lang="en" sz="1000"/>
                        <a:t>are bidirectional protocols used for </a:t>
                      </a:r>
                      <a:r>
                        <a:rPr b="1" lang="en" sz="1000"/>
                        <a:t>real-time</a:t>
                      </a:r>
                      <a:r>
                        <a:rPr lang="en" sz="1000"/>
                        <a:t> delivery.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2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Server Sent Events is a </a:t>
                      </a:r>
                      <a:r>
                        <a:rPr lang="en" sz="1000"/>
                        <a:t>protocol</a:t>
                      </a:r>
                      <a:r>
                        <a:rPr lang="en" sz="1000"/>
                        <a:t> for servers to deliver </a:t>
                      </a:r>
                      <a:r>
                        <a:rPr lang="en" sz="1000"/>
                        <a:t>real time</a:t>
                      </a:r>
                      <a:r>
                        <a:rPr lang="en" sz="1000"/>
                        <a:t> messages to clients over a keep alive connection.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823" y="1969050"/>
            <a:ext cx="469252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823" y="2775975"/>
            <a:ext cx="469252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823" y="3566725"/>
            <a:ext cx="469252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823" y="4357475"/>
            <a:ext cx="469252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6">
            <a:alphaModFix/>
          </a:blip>
          <a:srcRect b="19254" l="7138" r="7480" t="11885"/>
          <a:stretch/>
        </p:blipFill>
        <p:spPr>
          <a:xfrm>
            <a:off x="7279175" y="2061975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6">
            <a:alphaModFix/>
          </a:blip>
          <a:srcRect b="19254" l="7138" r="7480" t="11885"/>
          <a:stretch/>
        </p:blipFill>
        <p:spPr>
          <a:xfrm>
            <a:off x="7279175" y="2868900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6">
            <a:alphaModFix/>
          </a:blip>
          <a:srcRect b="19254" l="7138" r="7480" t="11885"/>
          <a:stretch/>
        </p:blipFill>
        <p:spPr>
          <a:xfrm>
            <a:off x="7279175" y="3659650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6">
            <a:alphaModFix/>
          </a:blip>
          <a:srcRect b="19254" l="7138" r="7480" t="11885"/>
          <a:stretch/>
        </p:blipFill>
        <p:spPr>
          <a:xfrm>
            <a:off x="7279175" y="4450400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17" name="Google Shape;117;p19"/>
          <p:cNvCxnSpPr>
            <a:stCxn id="109" idx="3"/>
            <a:endCxn id="113" idx="1"/>
          </p:cNvCxnSpPr>
          <p:nvPr/>
        </p:nvCxnSpPr>
        <p:spPr>
          <a:xfrm>
            <a:off x="6064075" y="2270400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>
            <a:stCxn id="114" idx="1"/>
            <a:endCxn id="110" idx="3"/>
          </p:cNvCxnSpPr>
          <p:nvPr/>
        </p:nvCxnSpPr>
        <p:spPr>
          <a:xfrm rot="10800000">
            <a:off x="6064175" y="3077325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reflection blurRad="0" dir="5400000" dist="38100" endA="0" endPos="30000" fadeDir="5400012" kx="0" rotWithShape="0" algn="bl" stPos="0" sy="-100000" ky="0"/>
          </a:effectLst>
        </p:spPr>
      </p:cxnSp>
      <p:sp>
        <p:nvSpPr>
          <p:cNvPr id="119" name="Google Shape;119;p19"/>
          <p:cNvSpPr txBox="1"/>
          <p:nvPr/>
        </p:nvSpPr>
        <p:spPr>
          <a:xfrm>
            <a:off x="6359850" y="2061650"/>
            <a:ext cx="46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HTTP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437025" y="2868900"/>
            <a:ext cx="63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Web Push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059175" y="3613175"/>
            <a:ext cx="13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Web Socket/Transport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19"/>
          <p:cNvCxnSpPr>
            <a:stCxn id="111" idx="3"/>
            <a:endCxn id="115" idx="1"/>
          </p:cNvCxnSpPr>
          <p:nvPr/>
        </p:nvCxnSpPr>
        <p:spPr>
          <a:xfrm>
            <a:off x="6064075" y="3868075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" name="Google Shape;123;p19"/>
          <p:cNvCxnSpPr>
            <a:stCxn id="116" idx="1"/>
            <a:endCxn id="112" idx="3"/>
          </p:cNvCxnSpPr>
          <p:nvPr/>
        </p:nvCxnSpPr>
        <p:spPr>
          <a:xfrm rot="10800000">
            <a:off x="6064175" y="4658825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9"/>
          <p:cNvSpPr txBox="1"/>
          <p:nvPr/>
        </p:nvSpPr>
        <p:spPr>
          <a:xfrm>
            <a:off x="6313275" y="4450400"/>
            <a:ext cx="7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HTTP SSE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Diagramming guidelines 3</a:t>
            </a:r>
            <a:endParaRPr/>
          </a:p>
        </p:txBody>
      </p:sp>
      <p:sp>
        <p:nvSpPr>
          <p:cNvPr id="130" name="Google Shape;130;p20"/>
          <p:cNvSpPr txBox="1"/>
          <p:nvPr>
            <p:ph idx="4294967295" type="body"/>
          </p:nvPr>
        </p:nvSpPr>
        <p:spPr>
          <a:xfrm>
            <a:off x="98250" y="703075"/>
            <a:ext cx="8397900" cy="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M</a:t>
            </a:r>
            <a:r>
              <a:rPr lang="en" sz="1200">
                <a:solidFill>
                  <a:srgbClr val="000000"/>
                </a:solidFill>
              </a:rPr>
              <a:t>ainly only compute components can be intermediates between other components, eg client -&gt; web app -&gt; database</a:t>
            </a:r>
            <a:endParaRPr sz="1200">
              <a:solidFill>
                <a:srgbClr val="000000"/>
              </a:solidFill>
            </a:endParaRPr>
          </a:p>
        </p:txBody>
      </p:sp>
      <p:graphicFrame>
        <p:nvGraphicFramePr>
          <p:cNvPr id="131" name="Google Shape;131;p20"/>
          <p:cNvGraphicFramePr/>
          <p:nvPr/>
        </p:nvGraphicFramePr>
        <p:xfrm>
          <a:off x="952500" y="1429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{9ABD0AC4-13A1-4DA3-8A20-FF353FF5F48B}</a:tableStyleId>
              </a:tblPr>
              <a:tblGrid>
                <a:gridCol w="4547975"/>
                <a:gridCol w="2691025"/>
              </a:tblGrid>
              <a:tr h="29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Protocol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0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HTTP Request: 3rd party API’s can send web requests to your application via setting up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hlinkClick r:id="rId3"/>
                        </a:rPr>
                        <a:t>webhooks</a:t>
                      </a:r>
                      <a:r>
                        <a:rPr lang="en" sz="1000"/>
                        <a:t> on the integration. Your server can also receive requests from other servers.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Depending on the database engine, servers connect to databases using the corresponding </a:t>
                      </a:r>
                      <a:r>
                        <a:rPr lang="en" sz="1000"/>
                        <a:t>protocol eg: mysqli://, neo4j://, postgresql://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9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WEB RTC</a:t>
                      </a:r>
                      <a:r>
                        <a:rPr lang="en" sz="1000"/>
                        <a:t> is a bidirectional peer to peer protocol, commonly used in video calling apps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823" y="3566725"/>
            <a:ext cx="469252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 rotWithShape="1">
          <a:blip r:embed="rId5">
            <a:alphaModFix/>
          </a:blip>
          <a:srcRect b="19254" l="7138" r="7480" t="11885"/>
          <a:stretch/>
        </p:blipFill>
        <p:spPr>
          <a:xfrm>
            <a:off x="7442850" y="1884625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34" name="Google Shape;134;p20"/>
          <p:cNvCxnSpPr>
            <a:stCxn id="135" idx="3"/>
            <a:endCxn id="133" idx="1"/>
          </p:cNvCxnSpPr>
          <p:nvPr/>
        </p:nvCxnSpPr>
        <p:spPr>
          <a:xfrm>
            <a:off x="6227850" y="2093050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0"/>
          <p:cNvSpPr txBox="1"/>
          <p:nvPr/>
        </p:nvSpPr>
        <p:spPr>
          <a:xfrm>
            <a:off x="6523525" y="1884300"/>
            <a:ext cx="46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HTTP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6313275" y="3659650"/>
            <a:ext cx="7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Web RTC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20"/>
          <p:cNvCxnSpPr>
            <a:stCxn id="132" idx="3"/>
            <a:endCxn id="139" idx="1"/>
          </p:cNvCxnSpPr>
          <p:nvPr/>
        </p:nvCxnSpPr>
        <p:spPr>
          <a:xfrm>
            <a:off x="6064075" y="3868075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40" name="Google Shape;140;p20"/>
          <p:cNvPicPr preferRelativeResize="0"/>
          <p:nvPr/>
        </p:nvPicPr>
        <p:blipFill rotWithShape="1">
          <a:blip r:embed="rId5">
            <a:alphaModFix/>
          </a:blip>
          <a:srcRect b="19254" l="7138" r="7480" t="11885"/>
          <a:stretch/>
        </p:blipFill>
        <p:spPr>
          <a:xfrm>
            <a:off x="5758500" y="1884625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1" name="Google Shape;141;p20"/>
          <p:cNvSpPr txBox="1"/>
          <p:nvPr/>
        </p:nvSpPr>
        <p:spPr>
          <a:xfrm>
            <a:off x="5500475" y="2301463"/>
            <a:ext cx="10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3rd party server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7210225" y="2301475"/>
            <a:ext cx="9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your 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server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>
            <a:off x="6218600" y="3002862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 txBox="1"/>
          <p:nvPr/>
        </p:nvSpPr>
        <p:spPr>
          <a:xfrm>
            <a:off x="6445475" y="2791050"/>
            <a:ext cx="9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mysql/postgres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5">
            <a:alphaModFix/>
          </a:blip>
          <a:srcRect b="19254" l="7138" r="7480" t="11885"/>
          <a:stretch/>
        </p:blipFill>
        <p:spPr>
          <a:xfrm>
            <a:off x="5749250" y="2794438"/>
            <a:ext cx="469250" cy="416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6" name="Google Shape;14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2024" y="2787099"/>
            <a:ext cx="469250" cy="48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173" y="3567050"/>
            <a:ext cx="469252" cy="6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lily’s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03600" y="964400"/>
            <a:ext cx="43461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Lily’s Flower E-commerce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Requirements: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Web and Mobile clients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Product browsing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Order fulfillment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analytics dashboard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Location Based coupons (mobile only)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Non functional requirements: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High volume real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time coupon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delivery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Fast read writes of coupon delivery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Coupon delivery service should be independent of web app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Prototype deployment &lt; 1000 users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Testing load &lt; 100 requests per min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725" y="878675"/>
            <a:ext cx="4346149" cy="21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8550" y="3152775"/>
            <a:ext cx="3680544" cy="192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Lily's</a:t>
            </a:r>
            <a:r>
              <a:rPr lang="en"/>
              <a:t> System Design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145575" y="1755075"/>
            <a:ext cx="2888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Single VM for website and API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Database hosted on separately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 App and Mobile App REST API on same Virtual Machine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3rd Party service for storing coupons and sending notifications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 Party service for hosting coupon delivery app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650" y="688925"/>
            <a:ext cx="5533250" cy="32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BeUWI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140625" y="838450"/>
            <a:ext cx="4092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Requirements: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Programme Search Client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Browse Programmes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Search programmes by requirements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Programme Admin Client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Upload Programmes via csv files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 and rollback uploads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Non functional requirements: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High traffic on Search Client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Requirements Query Time Should be &lt;500ms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Backend Should scale but Database is fixed read only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9875" y="722675"/>
            <a:ext cx="2990850" cy="267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550" y="2660425"/>
            <a:ext cx="3356299" cy="219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BeUWI System Design</a:t>
            </a:r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177350" y="838450"/>
            <a:ext cx="713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Graph Database used, deployed on dedicated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Digital Ocean Droplet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(Virtual Machine)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Programme engine deploy on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Digitalocean Apps platform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for auto scaling and DDoS protection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Stores file uploads separately from backend in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firebase storage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Upload metadata stored in NoSQL database,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firebase firestore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Admin and Client apps on CDN via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firebase hosting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Used </a:t>
            </a:r>
            <a:r>
              <a:rPr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firebase auth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on admin app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9">
            <a:alphaModFix/>
          </a:blip>
          <a:srcRect b="0" l="0" r="0" t="15412"/>
          <a:stretch/>
        </p:blipFill>
        <p:spPr>
          <a:xfrm>
            <a:off x="959950" y="2198250"/>
            <a:ext cx="7224100" cy="28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471900" y="1919075"/>
            <a:ext cx="8222100" cy="31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10 Common Architectural Patterns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System Design Cheatsheet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CQRS Cloud Design Pattern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Software Architecture | Architectural patterns | Architecture vs Design pattern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Stack Overflow Difference Between Architectural Patterns and Styles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8"/>
              </a:rPr>
              <a:t>A Complete Survey on Software Architectural Styles and Patterns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Principles of Clean Architecture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0"/>
              </a:rPr>
              <a:t>Software Architecture: A Case Based Approach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1"/>
              </a:rPr>
              <a:t>System Architecture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2"/>
              </a:rPr>
              <a:t>Message Queue vs Pub Sub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3"/>
              </a:rPr>
              <a:t>Patterns for Software Architectures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4"/>
              </a:rPr>
              <a:t>PubSub vs Message Queueing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5"/>
              </a:rPr>
              <a:t>Software Architecture Design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u="sng">
                <a:solidFill>
                  <a:schemeClr val="hlink"/>
                </a:solidFill>
                <a:hlinkClick r:id="rId16"/>
              </a:rPr>
              <a:t>Interactive Architecture Patterns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